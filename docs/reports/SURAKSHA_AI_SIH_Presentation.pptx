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spcAft>
                <a:spcPts val="1200"/>
              </a:spcAft>
              <a:defRPr sz="1400" b="1">
                <a:solidFill>
                  <a:srgbClr val="EA580C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800"/>
              </a:spcAft>
              <a:defRPr sz="4600" b="1">
                <a:solidFill>
                  <a:srgbClr val="0F172A"/>
                </a:solidFill>
              </a:defRPr>
            </a:pPr>
            <a:r>
              <a:t>SURAKSHA AI</a:t>
            </a:r>
          </a:p>
          <a:p>
            <a:pPr>
              <a:spcAft>
                <a:spcPts val="2000"/>
              </a:spcAft>
              <a:defRPr sz="2000" b="1">
                <a:solidFill>
                  <a:srgbClr val="16A34A"/>
                </a:solidFill>
              </a:defRPr>
            </a:pPr>
            <a:r>
              <a:t>Next-Generation AI Disaster Management &amp; Dynamic Safe Evacuation Platform</a:t>
            </a:r>
          </a:p>
          <a:p>
            <a:pPr>
              <a:spcAft>
                <a:spcPts val="3200"/>
              </a:spcAft>
              <a:defRPr sz="1300">
                <a:solidFill>
                  <a:srgbClr val="64748B"/>
                </a:solidFill>
              </a:defRPr>
            </a:pPr>
            <a:r>
              <a:t>Multi-Stage Cascade Hazard Prediction (XGBoost + PyTorch GAT)  |  Lava-Avoidance Pathfinding (Google OR-Tools)  |  Real-Time PostGIS Geofencing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4937760"/>
            <a:ext cx="192024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XGBoost 87.4%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4937760"/>
            <a:ext cx="192024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PyTorch GAT 92.3%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4937760"/>
            <a:ext cx="192024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Google OR-Tools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4937760"/>
            <a:ext cx="192024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PostgreSQL + PostGIS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4937760"/>
            <a:ext cx="192024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React Native &amp; Expo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SMART INDIA HACKATHON (SIH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Objective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💡 SIH 2026</a:t>
            </a:r>
          </a:p>
          <a:p>
            <a:pPr algn="ctr">
              <a:defRPr sz="900" b="1">
                <a:solidFill>
                  <a:srgbClr val="16A34A"/>
                </a:solidFill>
              </a:defRPr>
            </a:pPr>
            <a:r>
              <a:t>1010  1010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DC2626"/>
                </a:solidFill>
                <a:latin typeface="Calibri"/>
              </a:defRPr>
            </a:pPr>
            <a:r>
              <a:t>1. Compound Cascades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Existing systems predict single isolated disasters (e.g. heavy rainfall).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They miss domino cascades (Rain -&gt; Landslide -&gt; River Breach).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Result: Unexpected secondary disasters strike without warning.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Calibri"/>
              </a:defRPr>
            </a:pPr>
            <a:r>
              <a:t>2. Blind GPS Navigation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Commercial GPS apps (Google Maps) lack hazard polygon awareness.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Evacuees are routed directly into submerged or blocked roads.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Causes traffic gridlocks inside critical flood risk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3. Core Objective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Develop an integrated AI platform offering 45+ min early cascade warnings.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Calculate dynamic evacuation routes avoiding red hazard polygons.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Provide real-time victim SOS geofencing &amp; shelter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SMART INDIA HACKATHON (SIH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Proposed Solution: The 4 Core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💡 SIH 2026</a:t>
            </a:r>
          </a:p>
          <a:p>
            <a:pPr algn="ctr">
              <a:defRPr sz="900" b="1">
                <a:solidFill>
                  <a:srgbClr val="16A34A"/>
                </a:solidFill>
              </a:defRPr>
            </a:pPr>
            <a:r>
              <a:t>1010  1010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Calibri"/>
              </a:defRPr>
            </a:pPr>
            <a:r>
              <a:t>🧠 Multi-Stage Hybrid AI Engine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Stage 1 XGBoost: Evaluates 11 environmental factors for 87.4% local flood accuracy.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Stage 2 PyTorch GAT: Multi-head spatial graph net predicts domino cascades &amp; polygon bounds.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🗺️ Hazard-Aware OR-Tools Pathfinder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Treats active hazard polygons as high-cost obstacles ('The Floor is Lava').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Computes guaranteed green safe evacuation polylines to nearest open relief camps.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Calibri"/>
              </a:defRPr>
            </a:pPr>
            <a:r>
              <a:t>🗄️ Real-Time PostGIS Geofencing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Sub-millisecond 3D spatial indexing for victim SOS signals &amp; shelter capacities.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Automated emergency siren broadcast dispatches for control room authorities.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📱 Resilient Mobile Experience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Built with React Native &amp; Expo for iOS and native Android rendering.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Dual-mode design with offline local caching for zero-connectivity emergencies.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SMART INDIA HACKATHON (SIH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Technical Approach &amp; Technology Stack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💡 SIH 2026</a:t>
            </a:r>
          </a:p>
          <a:p>
            <a:pPr algn="ctr">
              <a:defRPr sz="900" b="1">
                <a:solidFill>
                  <a:srgbClr val="16A34A"/>
                </a:solidFill>
              </a:defRPr>
            </a:pPr>
            <a:r>
              <a:t>1010  1010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EA580C"/>
                </a:solidFill>
              </a:defRPr>
            </a:pPr>
            <a:r>
              <a:t>⚡ SYSTEM TECHNOLOGY STACK ARCHITECTURE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• AI / ML Engine: PyTorch Geometric (PyG), XGBoost 3.4.1, Scikit-Learn, NumPy, Pandas</a:t>
            </a:r>
            <a:br/>
            <a:r>
              <a:t>• Backend Microservice: Python 3.14, FastAPI Async ASGI Framework, Uvicorn, Pydantic V2</a:t>
            </a:r>
            <a:br/>
            <a:r>
              <a:t>• Spatial DB &amp; Pathfinder: PostgreSQL 16 + PostGIS 3.4 Extension, Google OR-Tools, NetworkX Graph Solver</a:t>
            </a:r>
            <a:br/>
            <a:r>
              <a:t>• Mobile Frontend: React Native 0.86, Expo SDK 57, TypeScript, React Native Maps, Zustand State 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Calibri"/>
              </a:defRPr>
            </a:pPr>
            <a:r>
              <a:t>Stage 1: XGBoost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Evaluates 11 Features: Rain rate, river level, slope angle, elevation, soil saturation.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100 Gradient Trees: Produces calibrated local flood score.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Unified Score Formula:</a:t>
            </a:r>
            <a:br/>
            <a:r>
              <a:t>  Risk = 0.45(Stage 1) + 0.55(Stage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83464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Calibri"/>
              </a:defRPr>
            </a:pPr>
            <a:r>
              <a:t>Stage 2: PyTorch GAT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Spatial Grid Graph: Connects center region to 8 compass neighbors.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4 Multi-Head Attention: Learns spatial propagation of disaster risk.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Outputs: Lead time (15-120 mins), secondary hazard, &amp; polygon bounds.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83464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OR-Tools Pathfinder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NetworkX Graph: Models road intersection nodes &amp; edge weights.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Lava Penalty Equation:</a:t>
            </a:r>
            <a:br/>
            <a:r>
              <a:t>  W_edge = Length * (1 + 1000 * InHazard)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Guarantees 0% hazard intersection along evacuation polylines.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SMART INDIA HACKATHON (SIH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End-to-End System Pipeline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💡 SIH 2026</a:t>
            </a:r>
          </a:p>
          <a:p>
            <a:pPr algn="ctr">
              <a:defRPr sz="900" b="1">
                <a:solidFill>
                  <a:srgbClr val="16A34A"/>
                </a:solidFill>
              </a:defRPr>
            </a:pPr>
            <a:r>
              <a:t>1010  1010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EA580C"/>
                </a:solidFill>
                <a:latin typeface="Calibri"/>
              </a:defRPr>
            </a:pPr>
            <a:r>
              <a:t>1. Data Telemetry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Sensors &amp; Mobile GPS send rain, river level, &amp; user location to FastAPI.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EA580C"/>
                </a:solidFill>
                <a:latin typeface="Calibri"/>
              </a:defRPr>
            </a:pPr>
            <a:r>
              <a:t>2. AI Cascade Engine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Stage 1 XGBoost + Stage 2 GAT predict domino hazards in &lt;8ms.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EA580C"/>
                </a:solidFill>
                <a:latin typeface="Calibri"/>
              </a:defRPr>
            </a:pPr>
            <a:r>
              <a:t>3. Spatial Geofencing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PostGIS checks victim proximity to red hazard polygons.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EA580C"/>
                </a:solidFill>
                <a:latin typeface="Calibri"/>
              </a:defRPr>
            </a:pPr>
            <a:r>
              <a:t>4. OR-Tools Routing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Pathfinder solves safest green route avoiding danger zones.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EA580C"/>
                </a:solidFill>
                <a:latin typeface="Calibri"/>
              </a:defRPr>
            </a:pPr>
            <a:r>
              <a:t>5. Live Dispatch &amp; Map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Siren push alerts sent &amp; native Android maps display green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SMART INDIA HACKATHON (SIH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Comprehensive Feasibility &amp; Viability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💡 SIH 2026</a:t>
            </a:r>
          </a:p>
          <a:p>
            <a:pPr algn="ctr">
              <a:defRPr sz="900" b="1">
                <a:solidFill>
                  <a:srgbClr val="16A34A"/>
                </a:solidFill>
              </a:defRPr>
            </a:pPr>
            <a:r>
              <a:t>1010  1010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Calibri"/>
              </a:defRPr>
            </a:pPr>
            <a:r>
              <a:t>1. Technical Feasibility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Sub-10ms REST Latency: FastAPI async event loop handles 1,000s reqs/sec.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Lightweight AI Footprint: Model package &lt;15MB, runs on edge/cloud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2. Economic Viability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Zero License Overhead: 100% open-source (Python, PyTorch, PostGIS).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Low Infrastructure Cost: Deploys on low-cost cloud (Supabase, Render).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Calibri"/>
              </a:defRPr>
            </a:pPr>
            <a:r>
              <a:t>3. Operational Resiliency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Offline-First Caching: Local storage maintains routing during cell failure.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Zero-Learning Curve UI: Intuitive emergency maps &amp; one-tap 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4. Regulatory Compliance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NDMA Protocol Alignment: Strict adherence to national disaster standards.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OGC Spatial Standards: Standard EPSG:4326 (WGS 84) coordinate mapping.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5. Hardware Interoperability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Minimal Sensor Overhead: Connects with existing CWC river &amp; IMD radar APIs.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Low Battery Consumption: Location batching conserves phone power.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DC2626"/>
                </a:solidFill>
                <a:latin typeface="Calibri"/>
              </a:defRPr>
            </a:pPr>
            <a:r>
              <a:t>6. Social Feasibility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Multilingual Support: Accessible in Hindi, Gujarati, and English.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High Public Trust: Transparent risk scores eliminate panic false alarms.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SMART INDIA HACKATHON (SIH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Unique Selling Proposition (USP) &amp; MVP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💡 SIH 2026</a:t>
            </a:r>
          </a:p>
          <a:p>
            <a:pPr algn="ctr">
              <a:defRPr sz="900" b="1">
                <a:solidFill>
                  <a:srgbClr val="16A34A"/>
                </a:solidFill>
              </a:defRPr>
            </a:pPr>
            <a:r>
              <a:t>1010  1010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Calibri"/>
              </a:defRPr>
            </a:pPr>
            <a:r>
              <a:t>🌟 Unique Selling Propositions (USPs)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1. Domino Cascade Warning: Predicts secondary landslides &amp; breaches 45+ mins ahead.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2. Lava-Avoidance Routing: Only GPS engine that dynamically penalizes hazard polygons.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3. Multi-Role Control Room: Unified dashboard for civilian evacuees &amp; emergency officers.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4. Dual-Mode Resiliency: Seamless switch between live FastAPI server &amp; offline device cache.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🚀 MVP Execution &amp;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✓ Fully Functional Backend: 21/21 PyTest unit tests passing 100%.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✓ Live Supabase Integration: Connected to PostgreSQL + PostGIS database pooler.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✓ Native Android APK: Built with Google Maps SDK integration &amp; custom icons.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✓ End-to-End Verified: Tested live cascade predictions, SOS streaming, &amp;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SMART INDIA HACKATHON (SIH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Societal Impact &amp; Quantifiable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💡 SIH 2026</a:t>
            </a:r>
          </a:p>
          <a:p>
            <a:pPr algn="ctr">
              <a:defRPr sz="900" b="1">
                <a:solidFill>
                  <a:srgbClr val="16A34A"/>
                </a:solidFill>
              </a:defRPr>
            </a:pPr>
            <a:r>
              <a:t>1010  1010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DC2626"/>
                </a:solidFill>
                <a:latin typeface="Calibri"/>
              </a:defRPr>
            </a:pPr>
            <a:r>
              <a:t>❤️ Life Saving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45+ Min Early Lead Time: Gives citizens crucial window to evacuate safely.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Zero Hazard Routing: Prevents accidental drownings inside flooded underpasses.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One-Tap SOS: Accelerates emergency rescue team response to trapped victims.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Calibri"/>
              </a:defRPr>
            </a:pPr>
            <a:r>
              <a:t>🏛️ Disaster Response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Optimal Resource Allocation: Prevents shelter overcrowding via live capacity tracking.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Targeted Siren Broadcasts: Sends localized alerts only to affected geofenced regions.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Data-Driven Command: Real-time incident heatmaps for NDRF/SDRF commanders.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📈 Economic Protection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Infrastructure Safeguards: Protects supply chain logistics along unflooded corridors.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Reduced Damage Costs: Early warnings allow moving machinery &amp; livestock to safety.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Public Trust: Empowers citizens with transparent, trustworthy emergency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SMART INDIA HACKATHON (SIH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Research &amp; Academic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💡 SIH 2026</a:t>
            </a:r>
          </a:p>
          <a:p>
            <a:pPr algn="ctr">
              <a:defRPr sz="900" b="1">
                <a:solidFill>
                  <a:srgbClr val="16A34A"/>
                </a:solidFill>
              </a:defRPr>
            </a:pPr>
            <a:r>
              <a:t>1010  1010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Calibri"/>
              </a:defRPr>
            </a:pPr>
            <a:r>
              <a:t>📚 AI &amp; Optimization Foundations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Graph Attention Networks: Veličković et al. (ICLR 2018) — Multi-head spatial graph attention for flood propagation modeling.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XGBoost Classifier: Chen &amp; Guestrin (KDD 2016) — Gradient boosted trees for tabular hydro-meteorological feature analysis.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Google OR-Tools Routing: Constraint programming framework for dynamic pathfinding on weighted spatial road graphs.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🌐 Frameworks &amp; Industry Standards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PostgreSQL + PostGIS: Open Geospatial Consortium (OGC) standard spatial reference EPSG:4326 (WGS 84).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FastAPI Framework: Asynchronous ASGI Python framework for ultra-low latency REST microservices.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•  NDMA Guidelines: National Disaster Management Authority framework for flood &amp; landslide mitigation.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